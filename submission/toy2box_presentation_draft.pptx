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약 30초. 결과가 완성된 연구 발표가 아니라 제출 자료 초안임을 설명한다.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약 40초. 아직 완료하지 않은 실패 분류를 실제 결과처럼 설명하지 않는다.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약 40초. 데이터 방식과 개수, idle 정의를 설명한다. 이 비교만으로 인과 효과를 주장하지 않는다.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약 50초. 최고 성능 checkpoint를 검증해 고른 것이라고 주장하지 않는다.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약 50초. 부분 실행 수치를 정식 평가나 두 학습 seed 비교 결과로 사용하지 않는다.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약 45초. 연구 주제나 개선 결과가 확정된 것처럼 발표하지 않는다.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약 45초. 실제 결과와 한계를 함께 정리하며 조원별 역할을 입력한다.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411480"/>
            <a:ext cx="109728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400"/>
              </a:spcAft>
              <a:defRPr sz="3200" b="1">
                <a:solidFill>
                  <a:srgbClr val="172B4D"/>
                </a:solidFill>
                <a:latin typeface="맑은 고딕"/>
              </a:defRPr>
            </a:pPr>
            <a:r>
              <a:t>Agibot Toy2Box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1792" y="1143000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400"/>
              </a:spcAft>
              <a:defRPr sz="1800" b="0">
                <a:solidFill>
                  <a:srgbClr val="4473A6"/>
                </a:solidFill>
                <a:latin typeface="맑은 고딕"/>
              </a:defRPr>
            </a:pPr>
            <a:r>
              <a:t>BC 정책 재현과 평가 · 5분 발표 초안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74519"/>
            <a:ext cx="106527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400"/>
              </a:spcAft>
              <a:defRPr sz="2200" b="0">
                <a:solidFill>
                  <a:srgbClr val="172B4D"/>
                </a:solidFill>
                <a:latin typeface="맑은 고딕"/>
              </a:defRPr>
            </a:pPr>
            <a:r>
              <a:t>• 고정 질문: Toy2Box에서 BC 정책은 왜 실패하는가?</a:t>
            </a:r>
          </a:p>
          <a:p>
            <a:pPr>
              <a:lnSpc>
                <a:spcPct val="115000"/>
              </a:lnSpc>
              <a:spcAft>
                <a:spcPts val="1400"/>
              </a:spcAft>
              <a:defRPr sz="2200" b="0">
                <a:solidFill>
                  <a:srgbClr val="172B4D"/>
                </a:solidFill>
                <a:latin typeface="맑은 고딕"/>
              </a:defRPr>
            </a:pPr>
            <a:r>
              <a:t>• 선택 모델: Dataset B → Mimic 499개 → BC-RNN/GMM</a:t>
            </a:r>
          </a:p>
          <a:p>
            <a:pPr>
              <a:lnSpc>
                <a:spcPct val="115000"/>
              </a:lnSpc>
              <a:spcAft>
                <a:spcPts val="1400"/>
              </a:spcAft>
              <a:defRPr sz="2200" b="0">
                <a:solidFill>
                  <a:srgbClr val="172B4D"/>
                </a:solidFill>
                <a:latin typeface="맑은 고딕"/>
              </a:defRPr>
            </a:pPr>
            <a:r>
              <a:t>• 학습 seed 101 · epoch 2000 · 최종 가중치 1개</a:t>
            </a:r>
          </a:p>
          <a:p>
            <a:pPr>
              <a:lnSpc>
                <a:spcPct val="115000"/>
              </a:lnSpc>
              <a:spcAft>
                <a:spcPts val="1400"/>
              </a:spcAft>
              <a:defRPr sz="2200" b="0">
                <a:solidFill>
                  <a:srgbClr val="172B4D"/>
                </a:solidFill>
                <a:latin typeface="맑은 고딕"/>
              </a:defRPr>
            </a:pPr>
            <a:r>
              <a:t>• 정식 평가·단계별 진단·통제 실험을 보완할 초안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428232"/>
            <a:ext cx="10789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400"/>
              </a:spcAft>
              <a:defRPr sz="1000" b="0">
                <a:solidFill>
                  <a:srgbClr val="67788D"/>
                </a:solidFill>
                <a:latin typeface="맑은 고딕"/>
              </a:defRPr>
            </a:pPr>
            <a:r>
              <a:t>Robotics Simulation Assignment 2  |  발표 초안  |  1/7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411480"/>
            <a:ext cx="109728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400"/>
              </a:spcAft>
              <a:defRPr sz="3200" b="1">
                <a:solidFill>
                  <a:srgbClr val="172B4D"/>
                </a:solidFill>
                <a:latin typeface="맑은 고딕"/>
              </a:defRPr>
            </a:pPr>
            <a:r>
              <a:t>1. 문제 정의와 진단 기준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1792" y="1143000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400"/>
              </a:spcAft>
              <a:defRPr sz="1800" b="0">
                <a:solidFill>
                  <a:srgbClr val="4473A6"/>
                </a:solidFill>
                <a:latin typeface="맑은 고딕"/>
              </a:defRPr>
            </a:pPr>
            <a:r>
              <a:t>과업 실패를 숫자로 설명한다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74519"/>
            <a:ext cx="106527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400"/>
              </a:spcAft>
              <a:defRPr sz="2200" b="0">
                <a:solidFill>
                  <a:srgbClr val="172B4D"/>
                </a:solidFill>
                <a:latin typeface="맑은 고딕"/>
              </a:defRPr>
            </a:pPr>
            <a:r>
              <a:t>• 과업: 트럭을 집어 충분히 들고 박스 안에 배치</a:t>
            </a:r>
          </a:p>
          <a:p>
            <a:pPr>
              <a:lnSpc>
                <a:spcPct val="115000"/>
              </a:lnSpc>
              <a:spcAft>
                <a:spcPts val="1400"/>
              </a:spcAft>
              <a:defRPr sz="2200" b="0">
                <a:solidFill>
                  <a:srgbClr val="172B4D"/>
                </a:solidFill>
                <a:latin typeface="맑은 고딕"/>
              </a:defRPr>
            </a:pPr>
            <a:r>
              <a:t>• 실패 분류: 접근 / 파지 / 운반 / 배치</a:t>
            </a:r>
          </a:p>
          <a:p>
            <a:pPr>
              <a:lnSpc>
                <a:spcPct val="115000"/>
              </a:lnSpc>
              <a:spcAft>
                <a:spcPts val="1400"/>
              </a:spcAft>
              <a:defRPr sz="2200" b="0">
                <a:solidFill>
                  <a:srgbClr val="172B4D"/>
                </a:solidFill>
                <a:latin typeface="맑은 고딕"/>
              </a:defRPr>
            </a:pPr>
            <a:r>
              <a:t>• 성공률과 함께 어느 단계에서 실패했는지 측정</a:t>
            </a:r>
          </a:p>
          <a:p>
            <a:pPr>
              <a:lnSpc>
                <a:spcPct val="115000"/>
              </a:lnSpc>
              <a:spcAft>
                <a:spcPts val="1400"/>
              </a:spcAft>
              <a:defRPr sz="2200" b="0">
                <a:solidFill>
                  <a:srgbClr val="172B4D"/>
                </a:solidFill>
                <a:latin typeface="맑은 고딕"/>
              </a:defRPr>
            </a:pPr>
            <a:r>
              <a:t>• 다음 단계: baseline 100회 평가 후 주된 원인 하나 선택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428232"/>
            <a:ext cx="10789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400"/>
              </a:spcAft>
              <a:defRPr sz="1000" b="0">
                <a:solidFill>
                  <a:srgbClr val="67788D"/>
                </a:solidFill>
                <a:latin typeface="맑은 고딕"/>
              </a:defRPr>
            </a:pPr>
            <a:r>
              <a:t>Robotics Simulation Assignment 2  |  발표 초안  |  2/7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411480"/>
            <a:ext cx="109728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400"/>
              </a:spcAft>
              <a:defRPr sz="3200" b="1">
                <a:solidFill>
                  <a:srgbClr val="172B4D"/>
                </a:solidFill>
                <a:latin typeface="맑은 고딕"/>
              </a:defRPr>
            </a:pPr>
            <a:r>
              <a:t>2. 데이터 계열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1792" y="1143000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400"/>
              </a:spcAft>
              <a:defRPr sz="1800" b="0">
                <a:solidFill>
                  <a:srgbClr val="4473A6"/>
                </a:solidFill>
                <a:latin typeface="맑은 고딕"/>
              </a:defRPr>
            </a:pPr>
            <a:r>
              <a:t>시간 표현 대신 고정 실험 이름 사용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74519"/>
            <a:ext cx="106527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400"/>
              </a:spcAft>
              <a:defRPr sz="2200" b="0">
                <a:solidFill>
                  <a:srgbClr val="172B4D"/>
                </a:solidFill>
                <a:latin typeface="맑은 고딕"/>
              </a:defRPr>
            </a:pPr>
            <a:r>
              <a:t>• Dataset A: 기준 구성 100개 · idle 평균 0.70%</a:t>
            </a:r>
          </a:p>
          <a:p>
            <a:pPr>
              <a:lnSpc>
                <a:spcPct val="115000"/>
              </a:lnSpc>
              <a:spcAft>
                <a:spcPts val="1400"/>
              </a:spcAft>
              <a:defRPr sz="2200" b="0">
                <a:solidFill>
                  <a:srgbClr val="172B4D"/>
                </a:solidFill>
                <a:latin typeface="맑은 고딕"/>
              </a:defRPr>
            </a:pPr>
            <a:r>
              <a:t>• Dataset B: 변화형 구성 20개 · idle 평균 4.78%</a:t>
            </a:r>
          </a:p>
          <a:p>
            <a:pPr>
              <a:lnSpc>
                <a:spcPct val="115000"/>
              </a:lnSpc>
              <a:spcAft>
                <a:spcPts val="1400"/>
              </a:spcAft>
              <a:defRPr sz="2200" b="0">
                <a:solidFill>
                  <a:srgbClr val="172B4D"/>
                </a:solidFill>
                <a:latin typeface="맑은 고딕"/>
              </a:defRPr>
            </a:pPr>
            <a:r>
              <a:t>• Dataset C: 분산 멈춤 구성 20개 · idle 평균 19.79%</a:t>
            </a:r>
          </a:p>
          <a:p>
            <a:pPr>
              <a:lnSpc>
                <a:spcPct val="115000"/>
              </a:lnSpc>
              <a:spcAft>
                <a:spcPts val="1400"/>
              </a:spcAft>
              <a:defRPr sz="2200" b="0">
                <a:solidFill>
                  <a:srgbClr val="172B4D"/>
                </a:solidFill>
                <a:latin typeface="맑은 고딕"/>
              </a:defRPr>
            </a:pPr>
            <a:r>
              <a:t>• 최종 모델의 원본은 Dataset B이며 Dataset C과 별도 계열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428232"/>
            <a:ext cx="10789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400"/>
              </a:spcAft>
              <a:defRPr sz="1000" b="0">
                <a:solidFill>
                  <a:srgbClr val="67788D"/>
                </a:solidFill>
                <a:latin typeface="맑은 고딕"/>
              </a:defRPr>
            </a:pPr>
            <a:r>
              <a:t>Robotics Simulation Assignment 2  |  발표 초안  |  3/7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411480"/>
            <a:ext cx="109728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400"/>
              </a:spcAft>
              <a:defRPr sz="3200" b="1">
                <a:solidFill>
                  <a:srgbClr val="172B4D"/>
                </a:solidFill>
                <a:latin typeface="맑은 고딕"/>
              </a:defRPr>
            </a:pPr>
            <a:r>
              <a:t>3. 학습 방법과 선택 모델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1792" y="1143000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400"/>
              </a:spcAft>
              <a:defRPr sz="1800" b="0">
                <a:solidFill>
                  <a:srgbClr val="4473A6"/>
                </a:solidFill>
                <a:latin typeface="맑은 고딕"/>
              </a:defRPr>
            </a:pPr>
            <a:r>
              <a:t>학습 이력과 실제 입력을 확인했다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74519"/>
            <a:ext cx="106527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400"/>
              </a:spcAft>
              <a:defRPr sz="2200" b="0">
                <a:solidFill>
                  <a:srgbClr val="172B4D"/>
                </a:solidFill>
                <a:latin typeface="맑은 고딕"/>
              </a:defRPr>
            </a:pPr>
            <a:r>
              <a:t>• Dataset B 20개 → annotation 20개 → Mimic 성공 시범 499개</a:t>
            </a:r>
          </a:p>
          <a:p>
            <a:pPr>
              <a:lnSpc>
                <a:spcPct val="115000"/>
              </a:lnSpc>
              <a:spcAft>
                <a:spcPts val="1400"/>
              </a:spcAft>
              <a:defRPr sz="2200" b="0">
                <a:solidFill>
                  <a:srgbClr val="172B4D"/>
                </a:solidFill>
                <a:latin typeface="맑은 고딕"/>
              </a:defRPr>
            </a:pPr>
            <a:r>
              <a:t>• BC-RNN: LSTM hidden 400, 2 layers, GMM 5 modes</a:t>
            </a:r>
          </a:p>
          <a:p>
            <a:pPr>
              <a:lnSpc>
                <a:spcPct val="115000"/>
              </a:lnSpc>
              <a:spcAft>
                <a:spcPts val="1400"/>
              </a:spcAft>
              <a:defRPr sz="2200" b="0">
                <a:solidFill>
                  <a:srgbClr val="172B4D"/>
                </a:solidFill>
                <a:latin typeface="맑은 고딕"/>
              </a:defRPr>
            </a:pPr>
            <a:r>
              <a:t>• 23차원 상태 입력 · 7차원 상대 EE 및 그리퍼 출력</a:t>
            </a:r>
          </a:p>
          <a:p>
            <a:pPr>
              <a:lnSpc>
                <a:spcPct val="115000"/>
              </a:lnSpc>
              <a:spcAft>
                <a:spcPts val="1400"/>
              </a:spcAft>
              <a:defRPr sz="2200" b="0">
                <a:solidFill>
                  <a:srgbClr val="172B4D"/>
                </a:solidFill>
                <a:latin typeface="맑은 고딕"/>
              </a:defRPr>
            </a:pPr>
            <a:r>
              <a:t>• batch 100 · sequence length 10 · Adam lr 0.001</a:t>
            </a:r>
          </a:p>
          <a:p>
            <a:pPr>
              <a:lnSpc>
                <a:spcPct val="115000"/>
              </a:lnSpc>
              <a:spcAft>
                <a:spcPts val="1400"/>
              </a:spcAft>
              <a:defRPr sz="2200" b="0">
                <a:solidFill>
                  <a:srgbClr val="172B4D"/>
                </a:solidFill>
                <a:latin typeface="맑은 고딕"/>
              </a:defRPr>
            </a:pPr>
            <a:r>
              <a:t>• 사용자 지정 고정 epoch 2000 모델 1개와 SHA256 제공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428232"/>
            <a:ext cx="10789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400"/>
              </a:spcAft>
              <a:defRPr sz="1000" b="0">
                <a:solidFill>
                  <a:srgbClr val="67788D"/>
                </a:solidFill>
                <a:latin typeface="맑은 고딕"/>
              </a:defRPr>
            </a:pPr>
            <a:r>
              <a:t>Robotics Simulation Assignment 2  |  발표 초안  |  4/7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411480"/>
            <a:ext cx="109728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400"/>
              </a:spcAft>
              <a:defRPr sz="3200" b="1">
                <a:solidFill>
                  <a:srgbClr val="172B4D"/>
                </a:solidFill>
                <a:latin typeface="맑은 고딕"/>
              </a:defRPr>
            </a:pPr>
            <a:r>
              <a:t>4. 평가 방법과 확인 범위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1792" y="1143000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400"/>
              </a:spcAft>
              <a:defRPr sz="1800" b="0">
                <a:solidFill>
                  <a:srgbClr val="4473A6"/>
                </a:solidFill>
                <a:latin typeface="맑은 고딕"/>
              </a:defRPr>
            </a:pPr>
            <a:r>
              <a:t>정식 평가와 동작 확인을 구분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74519"/>
            <a:ext cx="106527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400"/>
              </a:spcAft>
              <a:defRPr sz="2200" b="0">
                <a:solidFill>
                  <a:srgbClr val="172B4D"/>
                </a:solidFill>
                <a:latin typeface="맑은 고딕"/>
              </a:defRPr>
            </a:pPr>
            <a:r>
              <a:t>• 검증 명령: seed 42 · rollout 100회 · horizon 800</a:t>
            </a:r>
          </a:p>
          <a:p>
            <a:pPr>
              <a:lnSpc>
                <a:spcPct val="115000"/>
              </a:lnSpc>
              <a:spcAft>
                <a:spcPts val="1400"/>
              </a:spcAft>
              <a:defRPr sz="2200" b="0">
                <a:solidFill>
                  <a:srgbClr val="172B4D"/>
                </a:solidFill>
                <a:latin typeface="맑은 고딕"/>
              </a:defRPr>
            </a:pPr>
            <a:r>
              <a:t>• 학습 seed 101·111의 성공률 평균 ± 표준편차 보고 필요</a:t>
            </a:r>
          </a:p>
          <a:p>
            <a:pPr>
              <a:lnSpc>
                <a:spcPct val="115000"/>
              </a:lnSpc>
              <a:spcAft>
                <a:spcPts val="1400"/>
              </a:spcAft>
              <a:defRPr sz="2200" b="0">
                <a:solidFill>
                  <a:srgbClr val="172B4D"/>
                </a:solidFill>
                <a:latin typeface="맑은 고딕"/>
              </a:defRPr>
            </a:pPr>
            <a:r>
              <a:t>• 모델 동작 확인: 완료 7회, 성공 4회</a:t>
            </a:r>
          </a:p>
          <a:p>
            <a:pPr>
              <a:lnSpc>
                <a:spcPct val="115000"/>
              </a:lnSpc>
              <a:spcAft>
                <a:spcPts val="1400"/>
              </a:spcAft>
              <a:defRPr sz="2200" b="0">
                <a:solidFill>
                  <a:srgbClr val="172B4D"/>
                </a:solidFill>
                <a:latin typeface="맑은 고딕"/>
              </a:defRPr>
            </a:pPr>
            <a:r>
              <a:t>• 위 부분 실행은 100회 정식 성공률이 아니다</a:t>
            </a:r>
          </a:p>
          <a:p>
            <a:pPr>
              <a:lnSpc>
                <a:spcPct val="115000"/>
              </a:lnSpc>
              <a:spcAft>
                <a:spcPts val="1400"/>
              </a:spcAft>
              <a:defRPr sz="2200" b="0">
                <a:solidFill>
                  <a:srgbClr val="172B4D"/>
                </a:solidFill>
                <a:latin typeface="맑은 고딕"/>
              </a:defRPr>
            </a:pPr>
            <a:r>
              <a:t>• 선택한 시범 action 재생 6개는 기존 성공 조건 충족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428232"/>
            <a:ext cx="10789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400"/>
              </a:spcAft>
              <a:defRPr sz="1000" b="0">
                <a:solidFill>
                  <a:srgbClr val="67788D"/>
                </a:solidFill>
                <a:latin typeface="맑은 고딕"/>
              </a:defRPr>
            </a:pPr>
            <a:r>
              <a:t>Robotics Simulation Assignment 2  |  발표 초안  |  5/7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411480"/>
            <a:ext cx="109728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400"/>
              </a:spcAft>
              <a:defRPr sz="3200" b="1">
                <a:solidFill>
                  <a:srgbClr val="172B4D"/>
                </a:solidFill>
                <a:latin typeface="맑은 고딕"/>
              </a:defRPr>
            </a:pPr>
            <a:r>
              <a:t>5. 통제 실험 설계 보완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1792" y="1143000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400"/>
              </a:spcAft>
              <a:defRPr sz="1800" b="0">
                <a:solidFill>
                  <a:srgbClr val="4473A6"/>
                </a:solidFill>
                <a:latin typeface="맑은 고딕"/>
              </a:defRPr>
            </a:pPr>
            <a:r>
              <a:t>진단 → 가설 → 한 요인 변경 → 판정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74519"/>
            <a:ext cx="106527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400"/>
              </a:spcAft>
              <a:defRPr sz="2200" b="0">
                <a:solidFill>
                  <a:srgbClr val="172B4D"/>
                </a:solidFill>
                <a:latin typeface="맑은 고딕"/>
              </a:defRPr>
            </a:pPr>
            <a:r>
              <a:t>• 100회 baseline에서 실패 단계와 상태를 먼저 분류</a:t>
            </a:r>
          </a:p>
          <a:p>
            <a:pPr>
              <a:lnSpc>
                <a:spcPct val="115000"/>
              </a:lnSpc>
              <a:spcAft>
                <a:spcPts val="1400"/>
              </a:spcAft>
              <a:defRPr sz="2200" b="0">
                <a:solidFill>
                  <a:srgbClr val="172B4D"/>
                </a:solidFill>
                <a:latin typeface="맑은 고딕"/>
              </a:defRPr>
            </a:pPr>
            <a:r>
              <a:t>• 원인 하나에 연결된 가설과 판정 기준을 실험 전에 고정</a:t>
            </a:r>
          </a:p>
          <a:p>
            <a:pPr>
              <a:lnSpc>
                <a:spcPct val="115000"/>
              </a:lnSpc>
              <a:spcAft>
                <a:spcPts val="1400"/>
              </a:spcAft>
              <a:defRPr sz="2200" b="0">
                <a:solidFill>
                  <a:srgbClr val="172B4D"/>
                </a:solidFill>
                <a:latin typeface="맑은 고딕"/>
              </a:defRPr>
            </a:pPr>
            <a:r>
              <a:t>• 시범 수·epoch·batch·checkpoint 선택 기준을 맞춤</a:t>
            </a:r>
          </a:p>
          <a:p>
            <a:pPr>
              <a:lnSpc>
                <a:spcPct val="115000"/>
              </a:lnSpc>
              <a:spcAft>
                <a:spcPts val="1400"/>
              </a:spcAft>
              <a:defRPr sz="2200" b="0">
                <a:solidFill>
                  <a:srgbClr val="172B4D"/>
                </a:solidFill>
                <a:latin typeface="맑은 고딕"/>
              </a:defRPr>
            </a:pPr>
            <a:r>
              <a:t>• 환경·초기 물체 분포·성공 판정·종료 조건 유지</a:t>
            </a:r>
          </a:p>
          <a:p>
            <a:pPr>
              <a:lnSpc>
                <a:spcPct val="115000"/>
              </a:lnSpc>
              <a:spcAft>
                <a:spcPts val="1400"/>
              </a:spcAft>
              <a:defRPr sz="2200" b="0">
                <a:solidFill>
                  <a:srgbClr val="172B4D"/>
                </a:solidFill>
                <a:latin typeface="맑은 고딕"/>
              </a:defRPr>
            </a:pPr>
            <a:r>
              <a:t>• 성공률 변화와 겨냥한 실패 유형 감소를 함께 확인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428232"/>
            <a:ext cx="10789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400"/>
              </a:spcAft>
              <a:defRPr sz="1000" b="0">
                <a:solidFill>
                  <a:srgbClr val="67788D"/>
                </a:solidFill>
                <a:latin typeface="맑은 고딕"/>
              </a:defRPr>
            </a:pPr>
            <a:r>
              <a:t>Robotics Simulation Assignment 2  |  발표 초안  |  6/7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411480"/>
            <a:ext cx="109728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400"/>
              </a:spcAft>
              <a:defRPr sz="3200" b="1">
                <a:solidFill>
                  <a:srgbClr val="172B4D"/>
                </a:solidFill>
                <a:latin typeface="맑은 고딕"/>
              </a:defRPr>
            </a:pPr>
            <a:r>
              <a:t>6. 결론과 제출 전 확인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1792" y="1143000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400"/>
              </a:spcAft>
              <a:defRPr sz="1800" b="0">
                <a:solidFill>
                  <a:srgbClr val="4473A6"/>
                </a:solidFill>
                <a:latin typeface="맑은 고딕"/>
              </a:defRPr>
            </a:pPr>
            <a:r>
              <a:t>코드·모델·명령·발표 자료를 연결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74519"/>
            <a:ext cx="106527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400"/>
              </a:spcAft>
              <a:defRPr sz="2200" b="0">
                <a:solidFill>
                  <a:srgbClr val="172B4D"/>
                </a:solidFill>
                <a:latin typeface="맑은 고딕"/>
              </a:defRPr>
            </a:pPr>
            <a:r>
              <a:t>• 준비: 환경·학습 코드, 가중치 1개, 평가 명령, 데이터 기록</a:t>
            </a:r>
          </a:p>
          <a:p>
            <a:pPr>
              <a:lnSpc>
                <a:spcPct val="115000"/>
              </a:lnSpc>
              <a:spcAft>
                <a:spcPts val="1400"/>
              </a:spcAft>
              <a:defRPr sz="2200" b="0">
                <a:solidFill>
                  <a:srgbClr val="172B4D"/>
                </a:solidFill>
                <a:latin typeface="맑은 고딕"/>
              </a:defRPr>
            </a:pPr>
            <a:r>
              <a:t>• 확인: 모델 이력·SHA256, 실제 시범 재생·영상 프레임 수</a:t>
            </a:r>
          </a:p>
          <a:p>
            <a:pPr>
              <a:lnSpc>
                <a:spcPct val="115000"/>
              </a:lnSpc>
              <a:spcAft>
                <a:spcPts val="1400"/>
              </a:spcAft>
              <a:defRPr sz="2200" b="0">
                <a:solidFill>
                  <a:srgbClr val="172B4D"/>
                </a:solidFill>
                <a:latin typeface="맑은 고딕"/>
              </a:defRPr>
            </a:pPr>
            <a:r>
              <a:t>• 보완: 학습 seed 111, 정식 평가, 실패 진단, 통제 실험</a:t>
            </a:r>
          </a:p>
          <a:p>
            <a:pPr>
              <a:lnSpc>
                <a:spcPct val="115000"/>
              </a:lnSpc>
              <a:spcAft>
                <a:spcPts val="1400"/>
              </a:spcAft>
              <a:defRPr sz="2200" b="0">
                <a:solidFill>
                  <a:srgbClr val="172B4D"/>
                </a:solidFill>
                <a:latin typeface="맑은 고딕"/>
              </a:defRPr>
            </a:pPr>
            <a:r>
              <a:t>• PPT 결과·결론과 조원별 역할을 실제 실험 후 갱신</a:t>
            </a:r>
          </a:p>
          <a:p>
            <a:pPr>
              <a:lnSpc>
                <a:spcPct val="115000"/>
              </a:lnSpc>
              <a:spcAft>
                <a:spcPts val="1400"/>
              </a:spcAft>
              <a:defRPr sz="2200" b="0">
                <a:solidFill>
                  <a:srgbClr val="172B4D"/>
                </a:solidFill>
                <a:latin typeface="맑은 고딕"/>
              </a:defRPr>
            </a:pPr>
            <a:r>
              <a:t>• 강의자료: 11/3 23:59 제출 · 11/5 발표 (LMS 변경 확인)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428232"/>
            <a:ext cx="10789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400"/>
              </a:spcAft>
              <a:defRPr sz="1000" b="0">
                <a:solidFill>
                  <a:srgbClr val="67788D"/>
                </a:solidFill>
                <a:latin typeface="맑은 고딕"/>
              </a:defRPr>
            </a:pPr>
            <a:r>
              <a:t>Robotics Simulation Assignment 2  |  발표 초안  |  7/7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